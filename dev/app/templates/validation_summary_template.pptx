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14730904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zhang" initials="w" lastIdx="2" clrIdx="0">
    <p:extLst>
      <p:ext uri="{19B8F6BF-5375-455C-9EA6-DF929625EA0E}">
        <p15:presenceInfo xmlns:p15="http://schemas.microsoft.com/office/powerpoint/2012/main" userId="S-1-5-21-2881296949-346814276-121972734-13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E9F0"/>
    <a:srgbClr val="DBE7B6"/>
    <a:srgbClr val="CED307"/>
    <a:srgbClr val="D9D9D9"/>
    <a:srgbClr val="4E7D55"/>
    <a:srgbClr val="E2EFDA"/>
    <a:srgbClr val="FFE699"/>
    <a:srgbClr val="B4794C"/>
    <a:srgbClr val="976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6314" autoAdjust="0"/>
  </p:normalViewPr>
  <p:slideViewPr>
    <p:cSldViewPr snapToGrid="0">
      <p:cViewPr varScale="1">
        <p:scale>
          <a:sx n="113" d="100"/>
          <a:sy n="113" d="100"/>
        </p:scale>
        <p:origin x="79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BF3D0-1E95-4099-842F-55008D5DAB5B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3E8EC-614D-4F11-A8E1-B0D8445877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9143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44C82-2CB4-4C2A-ADE6-A4495FD286A8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55503-AE09-49AC-8F83-DA93BBB741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364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DB856-B829-463B-9C9A-5E9B8451C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DB2D73C-4715-43C5-B720-132AF6B79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5565B-40AF-42A8-A14E-55230D00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26913-A440-47C6-B339-462E2A03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27996-D3EF-4ECA-9926-2A0C1ADB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BD2993-A8B3-49DA-B3AF-EA0A04F0A299}"/>
              </a:ext>
            </a:extLst>
          </p:cNvPr>
          <p:cNvSpPr/>
          <p:nvPr userDrawn="1"/>
        </p:nvSpPr>
        <p:spPr bwMode="auto">
          <a:xfrm rot="10800000">
            <a:off x="0" y="6669093"/>
            <a:ext cx="12192000" cy="14287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440" tIns="40220" rIns="80440" bIns="40220" anchor="ctr"/>
          <a:lstStyle/>
          <a:p>
            <a:pPr algn="ctr" eaLnBrk="0" hangingPunct="0">
              <a:defRPr/>
            </a:pPr>
            <a:endParaRPr lang="zh-CN" altLang="en-US" dirty="0">
              <a:solidFill>
                <a:srgbClr val="FFFFFF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0659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32E4C-863E-4672-850A-FD6A6A66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676A3B-8C40-464B-9D12-5281FBA59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2ABAF1-5E1A-4DE8-9F7D-ABA8715F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FF21A5-8EEF-4206-B52B-5AF7E8D8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9866E3-47D1-4273-814F-651A7EB1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039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03360-A19F-48D7-BC88-E5CA4A54A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62F737-4D5C-4664-AB27-F82F60364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229EFB-1059-4910-BE7A-A5038D5A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9AC1C5-6FA1-4504-B9CE-0ED59AD5F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FD7554-EAB2-403D-ACC2-8D24567EE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634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99912-BDB4-4BC4-BDD9-91288793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BA7DA-ACC8-47B4-948C-A52948B75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4821D0-1D9A-4C40-BB05-B023DB4C2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096B3D-F387-42D3-B1D6-B179BA685C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F892AB-4377-4360-9B66-0913928F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B7BEA7-8B6F-4B0D-AA0A-542DBB9C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241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ACBB2-6AF6-45AF-A320-425B5E7CA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8A1A88-2B05-4CE2-BE0F-89A3AB20A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978EE0-90F1-4CBC-A4FA-0D2F9EA12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A7CF0F-ADCA-423C-BC94-0315D4444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1503B9-2AAC-4407-8407-6A69D25BF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ACC694-4469-41CA-A07D-F4CEE990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5F0119-A073-420D-9559-CE34F327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95EB7E-2F2E-4736-A8C1-85DCE21F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112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B4053D-124C-49FA-BFA6-C29B63018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5232D1-2DB1-460C-889A-35AF94DA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FC6C44-762B-47D7-91A2-73B8D3BB0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868773-A2AB-4E03-B78F-17E16AB0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717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F3BCB7-32F8-4587-A205-F4720FB2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47086B-9EC5-428C-ACDE-2B46E711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CDB87-3D66-40EF-863D-11435BF4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3168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EA049-582A-4FFE-8092-E2FD41AC5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68C194-0955-4C67-B79B-5C02E4130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1F818-304F-4FAB-8DDA-437D9F568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9661F6-C7C0-4250-A9CE-B37B7BB6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9C6B6A-D679-43E4-9824-D2D97CFC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325AE8-3769-4B57-AA2A-F0D0AC14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5275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BB2FB-0908-4647-89EE-D07CC6811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5D74EA-E6C8-4795-B70C-D58661842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F5105F-98BF-4CFB-8F7C-FB860D00E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ED3E19-C471-4B5E-B3E9-2FBDE1F0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1D7C41-97DB-4FDB-B702-948C36D1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350C9C-7318-4E21-AD0D-02B36E92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7027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87B82-C735-43E6-A53C-DF7A2E49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D7881-F345-4539-9D57-D177E7A82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B632D9-992D-4032-88EC-5AE4CDD5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C8DD7-63C2-4F83-9938-16B1C72C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55BE97-4459-4909-9163-8BCC030C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519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76265B-63C4-4E81-9FED-7376B9149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DDD7F0-0DEB-4157-B63B-BA6F3C2E1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E09ED-53F0-4A61-AC6D-C7085B55AC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B5CBD8-0715-44D2-93E1-226122041966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20D027-974C-4754-9FD6-00D221F94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E9268A-F7F1-46E4-825E-9A252CD6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0A366-8FEB-45E5-BDA2-220B1A16E8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1274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CREAM for PPT+Vectors.jpg">
            <a:extLst>
              <a:ext uri="{FF2B5EF4-FFF2-40B4-BE49-F238E27FC236}">
                <a16:creationId xmlns:a16="http://schemas.microsoft.com/office/drawing/2014/main" id="{DE2D2057-CA46-4EF6-968B-A951C838EC8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6458" y="0"/>
            <a:ext cx="12195283" cy="6858000"/>
          </a:xfrm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F2BAB-E3DD-4DBA-94AA-8AB6834C9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8CBDB2-C944-464E-A954-064619DC7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A63ECE-182D-49EC-9BE1-A201682A0EDC}"/>
              </a:ext>
            </a:extLst>
          </p:cNvPr>
          <p:cNvSpPr/>
          <p:nvPr userDrawn="1"/>
        </p:nvSpPr>
        <p:spPr bwMode="auto">
          <a:xfrm flipV="1">
            <a:off x="-132" y="836712"/>
            <a:ext cx="12084637" cy="72008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440" tIns="40220" rIns="80440" bIns="40220" anchor="ctr"/>
          <a:lstStyle/>
          <a:p>
            <a:pPr algn="ctr" eaLnBrk="0" hangingPunct="0">
              <a:defRPr/>
            </a:pPr>
            <a:endParaRPr lang="zh-CN" altLang="en-US" dirty="0">
              <a:solidFill>
                <a:srgbClr val="FFFFFF"/>
              </a:solidFill>
              <a:ea typeface="宋体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6E74F0-96F6-4CE4-AD8B-977E5A3ED99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871" y="136525"/>
            <a:ext cx="2139634" cy="612585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91505310-D3A9-4D1E-8CE1-C787180B685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90" y="6436744"/>
            <a:ext cx="2663092" cy="20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0440" tIns="40220" rIns="80440" bIns="40220">
            <a:spAutoFit/>
          </a:bodyPr>
          <a:lstStyle/>
          <a:p>
            <a:pPr eaLnBrk="0" hangingPunct="0">
              <a:defRPr/>
            </a:pPr>
            <a:r>
              <a:rPr lang="zh-CN" altLang="en-US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Confidential</a:t>
            </a:r>
            <a:r>
              <a:rPr lang="en-US" altLang="zh-CN" sz="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,</a:t>
            </a:r>
            <a:r>
              <a:rPr lang="en-US" altLang="zh-CN" sz="800" b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020735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A061024C-0FFC-49FF-9E67-1D70CFCFD0C8}"/>
              </a:ext>
            </a:extLst>
          </p:cNvPr>
          <p:cNvSpPr txBox="1"/>
          <p:nvPr/>
        </p:nvSpPr>
        <p:spPr>
          <a:xfrm>
            <a:off x="426178" y="225079"/>
            <a:ext cx="8311729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defTabSz="742950">
              <a:defRPr/>
            </a:pPr>
            <a:r>
              <a:rPr lang="en-US" altLang="zh-CN" sz="2800" b="1" dirty="0">
                <a:solidFill>
                  <a:srgbClr val="0B5395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EX1-Functional Validation Summary</a:t>
            </a:r>
          </a:p>
        </p:txBody>
      </p:sp>
      <p:pic>
        <p:nvPicPr>
          <p:cNvPr id="5" name="chart_feature" descr="slide5_progress.png">
            <a:extLst>
              <a:ext uri="{FF2B5EF4-FFF2-40B4-BE49-F238E27FC236}">
                <a16:creationId xmlns:a16="http://schemas.microsoft.com/office/drawing/2014/main" id="{6BB368CD-F3ED-4EAD-AAAB-1787ADEC0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59" y="1877360"/>
            <a:ext cx="6366463" cy="467444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769C454-3C3E-45D5-AF5E-48C864432F5F}"/>
              </a:ext>
            </a:extLst>
          </p:cNvPr>
          <p:cNvGrpSpPr/>
          <p:nvPr/>
        </p:nvGrpSpPr>
        <p:grpSpPr>
          <a:xfrm>
            <a:off x="421547" y="1042618"/>
            <a:ext cx="6163056" cy="804672"/>
            <a:chOff x="228600" y="713232"/>
            <a:chExt cx="6163056" cy="80467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8995466-52E9-41C6-A9D9-91B06010201A}"/>
                </a:ext>
              </a:extLst>
            </p:cNvPr>
            <p:cNvSpPr/>
            <p:nvPr/>
          </p:nvSpPr>
          <p:spPr>
            <a:xfrm>
              <a:off x="228600" y="713232"/>
              <a:ext cx="141732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6D1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D01B4D-D533-4F63-92F7-A1D8EEBB5D34}"/>
                </a:ext>
              </a:extLst>
            </p:cNvPr>
            <p:cNvSpPr/>
            <p:nvPr/>
          </p:nvSpPr>
          <p:spPr>
            <a:xfrm>
              <a:off x="228600" y="713232"/>
              <a:ext cx="54864" cy="8046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25178D-FB98-4885-B4ED-E250C052E087}"/>
                </a:ext>
              </a:extLst>
            </p:cNvPr>
            <p:cNvSpPr/>
            <p:nvPr/>
          </p:nvSpPr>
          <p:spPr>
            <a:xfrm>
              <a:off x="228600" y="713232"/>
              <a:ext cx="54864" cy="804672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kpi_coverage_value">
              <a:extLst>
                <a:ext uri="{FF2B5EF4-FFF2-40B4-BE49-F238E27FC236}">
                  <a16:creationId xmlns:a16="http://schemas.microsoft.com/office/drawing/2014/main" id="{BA4CA24B-E880-48A6-A4F1-63DA7A4BF0BF}"/>
                </a:ext>
              </a:extLst>
            </p:cNvPr>
            <p:cNvSpPr txBox="1"/>
            <p:nvPr/>
          </p:nvSpPr>
          <p:spPr>
            <a:xfrm>
              <a:off x="356616" y="804672"/>
              <a:ext cx="1234440" cy="292608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r>
                <a:rPr sz="1800" b="1">
                  <a:solidFill>
                    <a:srgbClr val="12305B"/>
                  </a:solidFill>
                  <a:latin typeface="Microsoft YaHei"/>
                </a:rPr>
                <a:t>92.6%</a:t>
              </a:r>
            </a:p>
          </p:txBody>
        </p:sp>
        <p:sp>
          <p:nvSpPr>
            <p:cNvPr id="12" name="kpi_coverage_label">
              <a:extLst>
                <a:ext uri="{FF2B5EF4-FFF2-40B4-BE49-F238E27FC236}">
                  <a16:creationId xmlns:a16="http://schemas.microsoft.com/office/drawing/2014/main" id="{232CF452-74E9-4F43-AF50-1B9B91051936}"/>
                </a:ext>
              </a:extLst>
            </p:cNvPr>
            <p:cNvSpPr txBox="1"/>
            <p:nvPr/>
          </p:nvSpPr>
          <p:spPr>
            <a:xfrm>
              <a:off x="356616" y="1097280"/>
              <a:ext cx="1234440" cy="219456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pPr algn="l"/>
              <a:r>
                <a:rPr sz="950" b="0">
                  <a:solidFill>
                    <a:srgbClr val="68778D"/>
                  </a:solidFill>
                  <a:latin typeface="Microsoft YaHei"/>
                </a:rPr>
                <a:t>CP 覆盖率</a:t>
              </a:r>
            </a:p>
          </p:txBody>
        </p:sp>
        <p:sp>
          <p:nvSpPr>
            <p:cNvPr id="13" name="kpi_coverage_delta">
              <a:extLst>
                <a:ext uri="{FF2B5EF4-FFF2-40B4-BE49-F238E27FC236}">
                  <a16:creationId xmlns:a16="http://schemas.microsoft.com/office/drawing/2014/main" id="{24EE289D-B0C4-41BA-8245-E1F4EEF5DA31}"/>
                </a:ext>
              </a:extLst>
            </p:cNvPr>
            <p:cNvSpPr txBox="1"/>
            <p:nvPr/>
          </p:nvSpPr>
          <p:spPr>
            <a:xfrm>
              <a:off x="356616" y="1298448"/>
              <a:ext cx="1234440" cy="164592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r>
                <a:rPr sz="819" b="0">
                  <a:solidFill>
                    <a:srgbClr val="2A9D8F"/>
                  </a:solidFill>
                  <a:latin typeface="Microsoft YaHei"/>
                </a:rPr>
                <a:t>较 5/28 +0.8pp</a:t>
              </a:r>
            </a:p>
          </p:txBody>
        </p:sp>
        <p:sp>
          <p:nvSpPr>
            <p:cNvPr id="14" name="Rounded Rectangle 12">
              <a:extLst>
                <a:ext uri="{FF2B5EF4-FFF2-40B4-BE49-F238E27FC236}">
                  <a16:creationId xmlns:a16="http://schemas.microsoft.com/office/drawing/2014/main" id="{A65907FB-FB81-4523-8ED8-C93B615D199E}"/>
                </a:ext>
              </a:extLst>
            </p:cNvPr>
            <p:cNvSpPr/>
            <p:nvPr/>
          </p:nvSpPr>
          <p:spPr>
            <a:xfrm>
              <a:off x="1764792" y="713232"/>
              <a:ext cx="141732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6D1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6C21082F-7D45-4508-8D61-594F066746A9}"/>
                </a:ext>
              </a:extLst>
            </p:cNvPr>
            <p:cNvSpPr/>
            <p:nvPr/>
          </p:nvSpPr>
          <p:spPr>
            <a:xfrm>
              <a:off x="1764792" y="713232"/>
              <a:ext cx="54864" cy="8046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A65FF556-16AB-45C9-A409-34B2E27E080F}"/>
                </a:ext>
              </a:extLst>
            </p:cNvPr>
            <p:cNvSpPr/>
            <p:nvPr/>
          </p:nvSpPr>
          <p:spPr>
            <a:xfrm>
              <a:off x="1764792" y="713232"/>
              <a:ext cx="54864" cy="804672"/>
            </a:xfrm>
            <a:prstGeom prst="rect">
              <a:avLst/>
            </a:prstGeom>
            <a:solidFill>
              <a:srgbClr val="4A7A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kpi_covered_value">
              <a:extLst>
                <a:ext uri="{FF2B5EF4-FFF2-40B4-BE49-F238E27FC236}">
                  <a16:creationId xmlns:a16="http://schemas.microsoft.com/office/drawing/2014/main" id="{FABBEAB4-51FF-48B1-8717-9AE5EF2F0E45}"/>
                </a:ext>
              </a:extLst>
            </p:cNvPr>
            <p:cNvSpPr txBox="1"/>
            <p:nvPr/>
          </p:nvSpPr>
          <p:spPr>
            <a:xfrm>
              <a:off x="1892808" y="804672"/>
              <a:ext cx="1234440" cy="292608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r>
                <a:rPr sz="1800" b="1">
                  <a:solidFill>
                    <a:srgbClr val="12305B"/>
                  </a:solidFill>
                  <a:latin typeface="Microsoft YaHei"/>
                </a:rPr>
                <a:t>236</a:t>
              </a:r>
            </a:p>
          </p:txBody>
        </p:sp>
        <p:sp>
          <p:nvSpPr>
            <p:cNvPr id="18" name="kpi_covered_label">
              <a:extLst>
                <a:ext uri="{FF2B5EF4-FFF2-40B4-BE49-F238E27FC236}">
                  <a16:creationId xmlns:a16="http://schemas.microsoft.com/office/drawing/2014/main" id="{C8472554-7777-4FA7-AFFE-025B04FEA9FD}"/>
                </a:ext>
              </a:extLst>
            </p:cNvPr>
            <p:cNvSpPr txBox="1"/>
            <p:nvPr/>
          </p:nvSpPr>
          <p:spPr>
            <a:xfrm>
              <a:off x="1892808" y="1097280"/>
              <a:ext cx="1234440" cy="219456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pPr algn="l"/>
              <a:r>
                <a:rPr sz="950" b="0">
                  <a:solidFill>
                    <a:srgbClr val="68778D"/>
                  </a:solidFill>
                  <a:latin typeface="Microsoft YaHei"/>
                </a:rPr>
                <a:t>已覆盖 CP</a:t>
              </a:r>
            </a:p>
          </p:txBody>
        </p:sp>
        <p:sp>
          <p:nvSpPr>
            <p:cNvPr id="19" name="Rounded Rectangle 17">
              <a:extLst>
                <a:ext uri="{FF2B5EF4-FFF2-40B4-BE49-F238E27FC236}">
                  <a16:creationId xmlns:a16="http://schemas.microsoft.com/office/drawing/2014/main" id="{6528254E-6D6C-4C55-848C-E704D95217EA}"/>
                </a:ext>
              </a:extLst>
            </p:cNvPr>
            <p:cNvSpPr/>
            <p:nvPr/>
          </p:nvSpPr>
          <p:spPr>
            <a:xfrm>
              <a:off x="3300984" y="713232"/>
              <a:ext cx="141732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6D1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A53256ED-228D-458A-9353-7D5BF5D88B6A}"/>
                </a:ext>
              </a:extLst>
            </p:cNvPr>
            <p:cNvSpPr/>
            <p:nvPr/>
          </p:nvSpPr>
          <p:spPr>
            <a:xfrm>
              <a:off x="3300984" y="713232"/>
              <a:ext cx="54864" cy="8046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A8F935E5-6863-47DA-B3CF-D2B9B51D1C16}"/>
                </a:ext>
              </a:extLst>
            </p:cNvPr>
            <p:cNvSpPr/>
            <p:nvPr/>
          </p:nvSpPr>
          <p:spPr>
            <a:xfrm>
              <a:off x="3300984" y="713232"/>
              <a:ext cx="54864" cy="804672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kpi_uncovered_value">
              <a:extLst>
                <a:ext uri="{FF2B5EF4-FFF2-40B4-BE49-F238E27FC236}">
                  <a16:creationId xmlns:a16="http://schemas.microsoft.com/office/drawing/2014/main" id="{3D064CD2-F62B-48EB-8DC3-3FC70FAF095C}"/>
                </a:ext>
              </a:extLst>
            </p:cNvPr>
            <p:cNvSpPr txBox="1"/>
            <p:nvPr/>
          </p:nvSpPr>
          <p:spPr>
            <a:xfrm>
              <a:off x="3429000" y="804672"/>
              <a:ext cx="1234440" cy="292608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r>
                <a:rPr sz="1800" b="1">
                  <a:solidFill>
                    <a:srgbClr val="12305B"/>
                  </a:solidFill>
                  <a:latin typeface="Microsoft YaHei"/>
                </a:rPr>
                <a:t>18</a:t>
              </a:r>
            </a:p>
          </p:txBody>
        </p:sp>
        <p:sp>
          <p:nvSpPr>
            <p:cNvPr id="23" name="kpi_uncovered_label">
              <a:extLst>
                <a:ext uri="{FF2B5EF4-FFF2-40B4-BE49-F238E27FC236}">
                  <a16:creationId xmlns:a16="http://schemas.microsoft.com/office/drawing/2014/main" id="{88E64AD5-61DA-4D93-9EC5-62EFF071B736}"/>
                </a:ext>
              </a:extLst>
            </p:cNvPr>
            <p:cNvSpPr txBox="1"/>
            <p:nvPr/>
          </p:nvSpPr>
          <p:spPr>
            <a:xfrm>
              <a:off x="3429000" y="1097280"/>
              <a:ext cx="1234440" cy="219456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pPr algn="l"/>
              <a:r>
                <a:rPr sz="950" b="0">
                  <a:solidFill>
                    <a:srgbClr val="68778D"/>
                  </a:solidFill>
                  <a:latin typeface="Microsoft YaHei"/>
                </a:rPr>
                <a:t>未覆盖 CP</a:t>
              </a:r>
            </a:p>
          </p:txBody>
        </p:sp>
        <p:sp>
          <p:nvSpPr>
            <p:cNvPr id="24" name="Rounded Rectangle 22">
              <a:extLst>
                <a:ext uri="{FF2B5EF4-FFF2-40B4-BE49-F238E27FC236}">
                  <a16:creationId xmlns:a16="http://schemas.microsoft.com/office/drawing/2014/main" id="{5EE8DE95-DD9F-4083-BED8-5D20793BF05C}"/>
                </a:ext>
              </a:extLst>
            </p:cNvPr>
            <p:cNvSpPr/>
            <p:nvPr/>
          </p:nvSpPr>
          <p:spPr>
            <a:xfrm>
              <a:off x="4837176" y="713232"/>
              <a:ext cx="155448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6D1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48C01FF1-B50F-49D1-95D7-AE544DD7E48C}"/>
                </a:ext>
              </a:extLst>
            </p:cNvPr>
            <p:cNvSpPr/>
            <p:nvPr/>
          </p:nvSpPr>
          <p:spPr>
            <a:xfrm>
              <a:off x="4837176" y="713232"/>
              <a:ext cx="54864" cy="8046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6DD70178-2955-4FFC-8F0F-AC30832F2477}"/>
                </a:ext>
              </a:extLst>
            </p:cNvPr>
            <p:cNvSpPr/>
            <p:nvPr/>
          </p:nvSpPr>
          <p:spPr>
            <a:xfrm>
              <a:off x="4837176" y="713232"/>
              <a:ext cx="54864" cy="804672"/>
            </a:xfrm>
            <a:prstGeom prst="rect">
              <a:avLst/>
            </a:prstGeom>
            <a:solidFill>
              <a:srgbClr val="1230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kpi_p0p1_value">
              <a:extLst>
                <a:ext uri="{FF2B5EF4-FFF2-40B4-BE49-F238E27FC236}">
                  <a16:creationId xmlns:a16="http://schemas.microsoft.com/office/drawing/2014/main" id="{AB109F1A-B304-4D19-A7FE-1D40CB9883D2}"/>
                </a:ext>
              </a:extLst>
            </p:cNvPr>
            <p:cNvSpPr txBox="1"/>
            <p:nvPr/>
          </p:nvSpPr>
          <p:spPr>
            <a:xfrm>
              <a:off x="4965192" y="804672"/>
              <a:ext cx="1371600" cy="292608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r>
                <a:rPr sz="1800" b="1">
                  <a:solidFill>
                    <a:srgbClr val="12305B"/>
                  </a:solidFill>
                  <a:latin typeface="Microsoft YaHei"/>
                </a:rPr>
                <a:t>78 / 176</a:t>
              </a:r>
            </a:p>
          </p:txBody>
        </p:sp>
        <p:sp>
          <p:nvSpPr>
            <p:cNvPr id="28" name="kpi_p0p1_label">
              <a:extLst>
                <a:ext uri="{FF2B5EF4-FFF2-40B4-BE49-F238E27FC236}">
                  <a16:creationId xmlns:a16="http://schemas.microsoft.com/office/drawing/2014/main" id="{61BC9B38-0975-4560-8965-3FD5F1984A35}"/>
                </a:ext>
              </a:extLst>
            </p:cNvPr>
            <p:cNvSpPr txBox="1"/>
            <p:nvPr/>
          </p:nvSpPr>
          <p:spPr>
            <a:xfrm>
              <a:off x="4965192" y="1097280"/>
              <a:ext cx="1371600" cy="219456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pPr algn="l"/>
              <a:r>
                <a:rPr sz="950" b="0">
                  <a:solidFill>
                    <a:srgbClr val="68778D"/>
                  </a:solidFill>
                  <a:latin typeface="Microsoft YaHei"/>
                </a:rPr>
                <a:t>P0 / P1 拆分</a:t>
              </a:r>
            </a:p>
          </p:txBody>
        </p:sp>
        <p:sp>
          <p:nvSpPr>
            <p:cNvPr id="29" name="kpi_p0p1_split">
              <a:extLst>
                <a:ext uri="{FF2B5EF4-FFF2-40B4-BE49-F238E27FC236}">
                  <a16:creationId xmlns:a16="http://schemas.microsoft.com/office/drawing/2014/main" id="{048E6C3A-006A-4CA7-8846-732FD1F5A626}"/>
                </a:ext>
              </a:extLst>
            </p:cNvPr>
            <p:cNvSpPr txBox="1"/>
            <p:nvPr/>
          </p:nvSpPr>
          <p:spPr>
            <a:xfrm>
              <a:off x="4965192" y="1298448"/>
              <a:ext cx="1371600" cy="164592"/>
            </a:xfrm>
            <a:prstGeom prst="rect">
              <a:avLst/>
            </a:prstGeom>
            <a:noFill/>
          </p:spPr>
          <p:txBody>
            <a:bodyPr wrap="square" lIns="50800" tIns="25400" rIns="50800" bIns="25400" anchor="t">
              <a:spAutoFit/>
            </a:bodyPr>
            <a:lstStyle/>
            <a:p>
              <a:r>
                <a:rPr sz="819" b="0">
                  <a:solidFill>
                    <a:srgbClr val="12305B"/>
                  </a:solidFill>
                  <a:latin typeface="Microsoft YaHei"/>
                </a:rPr>
                <a:t>P0=30.7%，P1=69.3%</a:t>
              </a:r>
            </a:p>
          </p:txBody>
        </p:sp>
      </p:grpSp>
      <p:sp>
        <p:nvSpPr>
          <p:cNvPr id="34" name="commentary">
            <a:extLst>
              <a:ext uri="{FF2B5EF4-FFF2-40B4-BE49-F238E27FC236}">
                <a16:creationId xmlns:a16="http://schemas.microsoft.com/office/drawing/2014/main" id="{BABEF167-24EA-4F1A-A0FF-3B9C342FFA9D}"/>
              </a:ext>
            </a:extLst>
          </p:cNvPr>
          <p:cNvSpPr txBox="1"/>
          <p:nvPr/>
        </p:nvSpPr>
        <p:spPr>
          <a:xfrm>
            <a:off x="7069067" y="5292378"/>
            <a:ext cx="4663440" cy="482183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r>
              <a:rPr sz="1400" b="1" dirty="0">
                <a:solidFill>
                  <a:srgbClr val="68778D"/>
                </a:solidFill>
                <a:latin typeface="Microsoft YaHei"/>
              </a:rPr>
              <a:t>APCS、PMA 的 P1 </a:t>
            </a:r>
            <a:r>
              <a:rPr lang="zh-CN" altLang="en-US" sz="1400" b="1" dirty="0">
                <a:solidFill>
                  <a:srgbClr val="68778D"/>
                </a:solidFill>
                <a:latin typeface="Microsoft YaHei"/>
              </a:rPr>
              <a:t>功能覆盖率不高</a:t>
            </a:r>
            <a:r>
              <a:rPr sz="1400" b="1" dirty="0">
                <a:solidFill>
                  <a:srgbClr val="68778D"/>
                </a:solidFill>
                <a:latin typeface="Microsoft YaHei"/>
              </a:rPr>
              <a:t>；</a:t>
            </a:r>
            <a:r>
              <a:rPr lang="zh-CN" altLang="en-US" sz="1400" b="1" dirty="0">
                <a:solidFill>
                  <a:srgbClr val="68778D"/>
                </a:solidFill>
                <a:latin typeface="Microsoft YaHei"/>
              </a:rPr>
              <a:t>但</a:t>
            </a:r>
            <a:r>
              <a:rPr sz="1400" b="1" dirty="0">
                <a:solidFill>
                  <a:srgbClr val="68778D"/>
                </a:solidFill>
                <a:latin typeface="Microsoft YaHei"/>
              </a:rPr>
              <a:t>P0</a:t>
            </a:r>
            <a:r>
              <a:rPr lang="zh-CN" altLang="en-US" sz="1400" b="1" dirty="0">
                <a:solidFill>
                  <a:srgbClr val="68778D"/>
                </a:solidFill>
                <a:latin typeface="Microsoft YaHei"/>
              </a:rPr>
              <a:t>核心功能</a:t>
            </a:r>
            <a:r>
              <a:rPr sz="1400" b="1" dirty="0" err="1">
                <a:solidFill>
                  <a:srgbClr val="68778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已全部覆盖</a:t>
            </a:r>
            <a:endParaRPr sz="1400" b="1" dirty="0">
              <a:solidFill>
                <a:srgbClr val="68778D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5" name="chart_p0p1" descr="p0_p1_focus_modules_chart_v2.png">
            <a:extLst>
              <a:ext uri="{FF2B5EF4-FFF2-40B4-BE49-F238E27FC236}">
                <a16:creationId xmlns:a16="http://schemas.microsoft.com/office/drawing/2014/main" id="{83DC00F8-A448-46E9-87B9-04B21AB66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603" y="2433822"/>
            <a:ext cx="5539179" cy="2710033"/>
          </a:xfrm>
          <a:prstGeom prst="rect">
            <a:avLst/>
          </a:prstGeom>
        </p:spPr>
      </p:pic>
      <p:sp>
        <p:nvSpPr>
          <p:cNvPr id="3" name="status_note">
            <a:extLst>
              <a:ext uri="{FF2B5EF4-FFF2-40B4-BE49-F238E27FC236}">
                <a16:creationId xmlns:a16="http://schemas.microsoft.com/office/drawing/2014/main" id="{A4A01121-76ED-461F-82BC-FDD92E125030}"/>
              </a:ext>
            </a:extLst>
          </p:cNvPr>
          <p:cNvSpPr txBox="1"/>
          <p:nvPr/>
        </p:nvSpPr>
        <p:spPr>
          <a:xfrm>
            <a:off x="7266214" y="1134058"/>
            <a:ext cx="4101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（请在此填写项目当前状态与下一步计划）</a:t>
            </a:r>
          </a:p>
        </p:txBody>
      </p:sp>
    </p:spTree>
    <p:extLst>
      <p:ext uri="{BB962C8B-B14F-4D97-AF65-F5344CB8AC3E}">
        <p14:creationId xmlns:p14="http://schemas.microsoft.com/office/powerpoint/2010/main" val="3001733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ont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72893</TotalTime>
  <Words>59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华文中宋</vt:lpstr>
      <vt:lpstr>Microsoft YaHei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Lynn</dc:creator>
  <cp:lastModifiedBy>Hao QI</cp:lastModifiedBy>
  <cp:revision>1672</cp:revision>
  <dcterms:created xsi:type="dcterms:W3CDTF">2022-02-15T07:47:38Z</dcterms:created>
  <dcterms:modified xsi:type="dcterms:W3CDTF">2026-07-21T02:32:47Z</dcterms:modified>
</cp:coreProperties>
</file>